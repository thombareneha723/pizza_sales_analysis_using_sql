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7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FB4A-139A-89BC-5566-2CF0A725D1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Pizza Sales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0AF64-56FE-EA76-FFB6-713CCC92C0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SQL project made by Neha Thombare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518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B6017-5008-E1B0-5358-E4E23B5CE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5773095" cy="986319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99241-003C-AA2D-8C8F-A54FD08FA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3" y="986319"/>
            <a:ext cx="5934506" cy="5262081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/>
              <a:t>The pizza store generates a large volume of transactional sales data, but the raw data alone does not provide meaningful insights for business decision-making.</a:t>
            </a:r>
            <a:br>
              <a:rPr lang="en-US" sz="8000" dirty="0"/>
            </a:br>
            <a:r>
              <a:rPr lang="en-US" sz="8000" dirty="0"/>
              <a:t>The objective of this project is to use </a:t>
            </a:r>
            <a:r>
              <a:rPr lang="en-US" sz="8000" b="1" dirty="0"/>
              <a:t>SQL-based data analysis</a:t>
            </a:r>
            <a:r>
              <a:rPr lang="en-US" sz="8000" dirty="0"/>
              <a:t> to explore pizza sales data and answer key business questions related to </a:t>
            </a:r>
            <a:r>
              <a:rPr lang="en-US" sz="8000" b="1" dirty="0"/>
              <a:t>orders, revenue, customer preferences, and sales trends</a:t>
            </a:r>
            <a:r>
              <a:rPr lang="en-US" sz="8000" dirty="0"/>
              <a:t>.</a:t>
            </a:r>
          </a:p>
          <a:p>
            <a:r>
              <a:rPr lang="en-US" sz="8000" dirty="0"/>
              <a:t>By performing </a:t>
            </a:r>
            <a:r>
              <a:rPr lang="en-US" sz="8000" b="1" dirty="0"/>
              <a:t>basic, intermediate, and advanced SQL queries</a:t>
            </a:r>
            <a:r>
              <a:rPr lang="en-US" sz="8000" dirty="0"/>
              <a:t>, this project aims to transform raw sales data into actionable insights that help the business understand:</a:t>
            </a:r>
          </a:p>
          <a:p>
            <a:r>
              <a:rPr lang="en-US" sz="8000" dirty="0"/>
              <a:t>* Overall sales performance</a:t>
            </a:r>
          </a:p>
          <a:p>
            <a:r>
              <a:rPr lang="en-US" sz="8000" dirty="0"/>
              <a:t>* Popular products and categories</a:t>
            </a:r>
          </a:p>
          <a:p>
            <a:r>
              <a:rPr lang="en-US" sz="8000" dirty="0"/>
              <a:t>* Revenue contribution of different pizzas</a:t>
            </a:r>
          </a:p>
          <a:p>
            <a:r>
              <a:rPr lang="en-US" sz="8000" dirty="0"/>
              <a:t>* Time-based ordering behavior</a:t>
            </a:r>
          </a:p>
          <a:p>
            <a:endParaRPr lang="en-IN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0FAB3A4B-A9C4-A20A-C2AA-331618EB596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6409" r="26409"/>
          <a:stretch>
            <a:fillRect/>
          </a:stretch>
        </p:blipFill>
        <p:spPr>
          <a:xfrm>
            <a:off x="7284378" y="527973"/>
            <a:ext cx="4907622" cy="5285358"/>
          </a:xfrm>
        </p:spPr>
      </p:pic>
    </p:spTree>
    <p:extLst>
      <p:ext uri="{BB962C8B-B14F-4D97-AF65-F5344CB8AC3E}">
        <p14:creationId xmlns:p14="http://schemas.microsoft.com/office/powerpoint/2010/main" val="3141636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31B8-AAFB-13FF-EEF4-4CEE8A8AF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4828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Significance of the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F02ED-D0DF-DFF3-2F0D-D2365227E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171254"/>
            <a:ext cx="9553986" cy="46199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This analysis is important because it helps the business:</a:t>
            </a:r>
          </a:p>
          <a:p>
            <a:r>
              <a:rPr lang="en-US" sz="2200" b="1" dirty="0"/>
              <a:t>Track overall performance</a:t>
            </a:r>
            <a:r>
              <a:rPr lang="en-US" sz="2200" dirty="0"/>
              <a:t> by calculating total orders and total revenue</a:t>
            </a:r>
          </a:p>
          <a:p>
            <a:r>
              <a:rPr lang="en-US" sz="2200" b="1" dirty="0"/>
              <a:t>Identify customer preferences</a:t>
            </a:r>
            <a:r>
              <a:rPr lang="en-US" sz="2200" dirty="0"/>
              <a:t> such as most ordered pizza size and types</a:t>
            </a:r>
          </a:p>
          <a:p>
            <a:r>
              <a:rPr lang="en-US" sz="2200" b="1" dirty="0"/>
              <a:t>Optimize pricing strategy</a:t>
            </a:r>
            <a:r>
              <a:rPr lang="en-US" sz="2200" dirty="0"/>
              <a:t> by analyzing high-priced and high-revenue pizzas</a:t>
            </a:r>
          </a:p>
          <a:p>
            <a:r>
              <a:rPr lang="en-US" sz="2200" b="1" dirty="0"/>
              <a:t>Understand demand patterns</a:t>
            </a:r>
            <a:r>
              <a:rPr lang="en-US" sz="2200" dirty="0"/>
              <a:t> through hourly and daily order distribution</a:t>
            </a:r>
          </a:p>
          <a:p>
            <a:r>
              <a:rPr lang="en-US" sz="2200" b="1" dirty="0"/>
              <a:t>Support strategic planning</a:t>
            </a:r>
            <a:r>
              <a:rPr lang="en-US" sz="2200" dirty="0"/>
              <a:t> using category-wise and cumulative revenue analysis</a:t>
            </a:r>
          </a:p>
          <a:p>
            <a:pPr marL="0" indent="0">
              <a:buNone/>
            </a:pPr>
            <a:r>
              <a:rPr lang="en-US" sz="2200" dirty="0"/>
              <a:t>Using SQL enables fast, accurate analysis directly on large datasets without manual calculations.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7896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E7FBA-92AA-E9E3-2DD6-2839A81B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 Q1. Retrieve the total number of orders placed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59F3F-D74D-513B-70A8-1129BEC340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  </a:t>
            </a:r>
          </a:p>
          <a:p>
            <a:pPr marL="0" indent="0">
              <a:buNone/>
            </a:pPr>
            <a:r>
              <a:rPr lang="en-US" dirty="0"/>
              <a:t>COUNT(order_id) AS </a:t>
            </a:r>
            <a:r>
              <a:rPr lang="en-US" dirty="0" err="1"/>
              <a:t>total_orders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FROM    orders;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3B76C3F-5CBD-C729-765E-6C073FBC6B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3223059"/>
              </p:ext>
            </p:extLst>
          </p:nvPr>
        </p:nvGraphicFramePr>
        <p:xfrm>
          <a:off x="359596" y="2249486"/>
          <a:ext cx="5920302" cy="2178675"/>
        </p:xfrm>
        <a:graphic>
          <a:graphicData uri="http://schemas.openxmlformats.org/drawingml/2006/table">
            <a:tbl>
              <a:tblPr/>
              <a:tblGrid>
                <a:gridCol w="5920302">
                  <a:extLst>
                    <a:ext uri="{9D8B030D-6E8A-4147-A177-3AD203B41FA5}">
                      <a16:colId xmlns:a16="http://schemas.microsoft.com/office/drawing/2014/main" val="348122171"/>
                    </a:ext>
                  </a:extLst>
                </a:gridCol>
              </a:tblGrid>
              <a:tr h="21786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900" dirty="0"/>
                    </a:p>
                  </a:txBody>
                  <a:tcPr marL="45002" marR="45002" marT="22501" marB="22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615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181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A32D-627B-C320-5BC8-638B6485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 Q1. Retrieve the total number of orders placed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30AE5-540C-E1F7-B155-C7565ABA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  </a:t>
            </a:r>
          </a:p>
          <a:p>
            <a:pPr marL="0" indent="0">
              <a:buNone/>
            </a:pPr>
            <a:r>
              <a:rPr lang="en-US" dirty="0"/>
              <a:t>      COUNT(order_id) AS total_orders</a:t>
            </a:r>
          </a:p>
          <a:p>
            <a:pPr marL="0" indent="0">
              <a:buNone/>
            </a:pPr>
            <a:r>
              <a:rPr lang="en-US" dirty="0"/>
              <a:t> FROM    </a:t>
            </a:r>
          </a:p>
          <a:p>
            <a:pPr marL="0" indent="0">
              <a:buNone/>
            </a:pPr>
            <a:r>
              <a:rPr lang="en-US" dirty="0"/>
              <a:t>      orders;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3978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23F8D-6B32-6E36-DBA0-B6E0CAE6F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96DD-93B1-F72E-030B-C5ECB5B43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 Q2 Calculate the total revenue generated from pizza sales.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97F-6C66-D683-6361-370231FA4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    ROUND(SUM(quantity * price), 2) AS total_revenue_pizza</a:t>
            </a:r>
          </a:p>
          <a:p>
            <a:pPr marL="0" indent="0">
              <a:buNone/>
            </a:pPr>
            <a:r>
              <a:rPr lang="en-US" dirty="0"/>
              <a:t>FROM    </a:t>
            </a:r>
          </a:p>
          <a:p>
            <a:pPr marL="0" indent="0">
              <a:buNone/>
            </a:pPr>
            <a:r>
              <a:rPr lang="en-US" dirty="0"/>
              <a:t>     order_details AS a        </a:t>
            </a:r>
          </a:p>
          <a:p>
            <a:pPr marL="0" indent="0">
              <a:buNone/>
            </a:pPr>
            <a:r>
              <a:rPr lang="en-US" dirty="0"/>
              <a:t>LEFT JOIN   </a:t>
            </a:r>
          </a:p>
          <a:p>
            <a:pPr marL="0" indent="0">
              <a:buNone/>
            </a:pPr>
            <a:r>
              <a:rPr lang="en-US" dirty="0"/>
              <a:t>      pizzas AS b</a:t>
            </a:r>
          </a:p>
          <a:p>
            <a:pPr marL="0" indent="0">
              <a:buNone/>
            </a:pPr>
            <a:r>
              <a:rPr lang="en-US" dirty="0"/>
              <a:t> ON a.pizza_id = b.pizza_id;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8664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8D06B-E01D-B2A9-F08C-D112C5D8F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90D7-4539-7C40-A214-4BA9EEB2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 Q3.Identify the highest-priced pizza.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8980E-D0A0-9EC7-BC37-70763C42B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28800"/>
            <a:ext cx="9905998" cy="486995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SELECT * FROM pizzas</a:t>
            </a:r>
          </a:p>
          <a:p>
            <a:pPr marL="0" indent="0">
              <a:buNone/>
            </a:pPr>
            <a:r>
              <a:rPr lang="en-US" dirty="0"/>
              <a:t>WHERE price=(select max(price) FROM pizzas) ;</a:t>
            </a:r>
          </a:p>
          <a:p>
            <a:pPr marL="0" indent="0">
              <a:buNone/>
            </a:pPr>
            <a:r>
              <a:rPr lang="en-US" dirty="0"/>
              <a:t>                         OR</a:t>
            </a:r>
          </a:p>
          <a:p>
            <a:pPr marL="0" indent="0">
              <a:buNone/>
            </a:pPr>
            <a:r>
              <a:rPr lang="en-US" dirty="0"/>
              <a:t>SELECT     a.name, b.price</a:t>
            </a:r>
          </a:p>
          <a:p>
            <a:pPr marL="0" indent="0">
              <a:buNone/>
            </a:pPr>
            <a:r>
              <a:rPr lang="en-US" dirty="0"/>
              <a:t>FROM   </a:t>
            </a:r>
          </a:p>
          <a:p>
            <a:pPr marL="0" indent="0">
              <a:buNone/>
            </a:pPr>
            <a:r>
              <a:rPr lang="en-US" dirty="0"/>
              <a:t>     pizza_types AS a        </a:t>
            </a:r>
          </a:p>
          <a:p>
            <a:pPr marL="0" indent="0">
              <a:buNone/>
            </a:pPr>
            <a:r>
              <a:rPr lang="en-US" dirty="0"/>
              <a:t>JOIN   </a:t>
            </a:r>
          </a:p>
          <a:p>
            <a:pPr marL="0" indent="0">
              <a:buNone/>
            </a:pPr>
            <a:r>
              <a:rPr lang="en-US" dirty="0"/>
              <a:t> pizzas AS b</a:t>
            </a:r>
          </a:p>
          <a:p>
            <a:pPr marL="0" indent="0">
              <a:buNone/>
            </a:pPr>
            <a:r>
              <a:rPr lang="en-US" dirty="0"/>
              <a:t> ON b.pizza_type_id = b.pizza_type_id</a:t>
            </a:r>
          </a:p>
          <a:p>
            <a:pPr marL="0" indent="0">
              <a:buNone/>
            </a:pPr>
            <a:r>
              <a:rPr lang="en-US" dirty="0"/>
              <a:t>ORDER BY b.price DESC LIMIT 1;</a:t>
            </a:r>
          </a:p>
        </p:txBody>
      </p:sp>
    </p:spTree>
    <p:extLst>
      <p:ext uri="{BB962C8B-B14F-4D97-AF65-F5344CB8AC3E}">
        <p14:creationId xmlns:p14="http://schemas.microsoft.com/office/powerpoint/2010/main" val="834518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860ED-C767-BCF4-237A-E9B17071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BC2AF-E496-A40F-0021-C45A1863D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769742" cy="1210282"/>
          </a:xfrm>
        </p:spPr>
        <p:txBody>
          <a:bodyPr/>
          <a:lstStyle/>
          <a:p>
            <a:r>
              <a:rPr lang="en-US" dirty="0"/>
              <a:t># Q4. Identify the most common pizza size ordered.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E646F-A01B-281B-8B92-7C51DA433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28800"/>
            <a:ext cx="9905998" cy="4869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    b.size, COUNT(b.size) AS order_count</a:t>
            </a:r>
          </a:p>
          <a:p>
            <a:pPr marL="0" indent="0">
              <a:buNone/>
            </a:pPr>
            <a:r>
              <a:rPr lang="en-US" dirty="0"/>
              <a:t>FROM    order_details AS a     </a:t>
            </a:r>
          </a:p>
          <a:p>
            <a:pPr marL="0" indent="0">
              <a:buNone/>
            </a:pPr>
            <a:r>
              <a:rPr lang="en-US" dirty="0"/>
              <a:t> LEFT JOIN    pizzas AS b</a:t>
            </a:r>
          </a:p>
          <a:p>
            <a:pPr marL="0" indent="0">
              <a:buNone/>
            </a:pPr>
            <a:r>
              <a:rPr lang="en-US" dirty="0"/>
              <a:t> ON a.pizza_id = b.pizza_id</a:t>
            </a:r>
          </a:p>
          <a:p>
            <a:pPr marL="0" indent="0">
              <a:buNone/>
            </a:pPr>
            <a:r>
              <a:rPr lang="en-US" dirty="0"/>
              <a:t>GROUP BY b.size</a:t>
            </a:r>
          </a:p>
          <a:p>
            <a:pPr marL="0" indent="0">
              <a:buNone/>
            </a:pPr>
            <a:r>
              <a:rPr lang="en-US" dirty="0"/>
              <a:t>ORDER BY order_count DESC LIMIT 1;</a:t>
            </a:r>
          </a:p>
        </p:txBody>
      </p:sp>
    </p:spTree>
    <p:extLst>
      <p:ext uri="{BB962C8B-B14F-4D97-AF65-F5344CB8AC3E}">
        <p14:creationId xmlns:p14="http://schemas.microsoft.com/office/powerpoint/2010/main" val="188510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D006E-40D9-1BBA-95C8-1C5AB9B76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5785-B5D1-EC3B-7976-FFD3E2D74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769742" cy="1210282"/>
          </a:xfrm>
        </p:spPr>
        <p:txBody>
          <a:bodyPr/>
          <a:lstStyle/>
          <a:p>
            <a:r>
              <a:rPr lang="en-US" dirty="0"/>
              <a:t># Q5. List the top 5 most ordered pizza types along with their quantities.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504C0-9BFD-76BA-6016-AE4034E63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28800"/>
            <a:ext cx="9905998" cy="48699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SELECT     </a:t>
            </a:r>
          </a:p>
          <a:p>
            <a:pPr marL="0" indent="0">
              <a:buNone/>
            </a:pPr>
            <a:r>
              <a:rPr lang="en-US" dirty="0"/>
              <a:t>c.name, SUM(quantity) AS total_quantity</a:t>
            </a:r>
          </a:p>
          <a:p>
            <a:pPr marL="0" indent="0">
              <a:buNone/>
            </a:pPr>
            <a:r>
              <a:rPr lang="en-US" dirty="0"/>
              <a:t>FROM    order_details AS a    </a:t>
            </a:r>
          </a:p>
          <a:p>
            <a:pPr marL="0" indent="0">
              <a:buNone/>
            </a:pPr>
            <a:r>
              <a:rPr lang="en-US" dirty="0"/>
              <a:t>    JOIN    </a:t>
            </a:r>
          </a:p>
          <a:p>
            <a:pPr marL="0" indent="0">
              <a:buNone/>
            </a:pPr>
            <a:r>
              <a:rPr lang="en-US" dirty="0"/>
              <a:t>pizzas AS b ON a.pizza_id = b.pizza_id        </a:t>
            </a:r>
          </a:p>
          <a:p>
            <a:pPr marL="0" indent="0">
              <a:buNone/>
            </a:pPr>
            <a:r>
              <a:rPr lang="en-US" dirty="0"/>
              <a:t>   JOIN   </a:t>
            </a:r>
          </a:p>
          <a:p>
            <a:pPr marL="0" indent="0">
              <a:buNone/>
            </a:pPr>
            <a:r>
              <a:rPr lang="en-US" dirty="0"/>
              <a:t> pizza_types AS c ON b.pizza_type_id = c.pizza_type_id</a:t>
            </a:r>
          </a:p>
          <a:p>
            <a:pPr marL="0" indent="0">
              <a:buNone/>
            </a:pPr>
            <a:r>
              <a:rPr lang="en-US" dirty="0"/>
              <a:t>GROUP BY c.name</a:t>
            </a:r>
          </a:p>
          <a:p>
            <a:pPr marL="0" indent="0">
              <a:buNone/>
            </a:pPr>
            <a:r>
              <a:rPr lang="en-US" dirty="0"/>
              <a:t>ORDER BY total_quantity DESC LIMIT 5;</a:t>
            </a:r>
          </a:p>
        </p:txBody>
      </p:sp>
    </p:spTree>
    <p:extLst>
      <p:ext uri="{BB962C8B-B14F-4D97-AF65-F5344CB8AC3E}">
        <p14:creationId xmlns:p14="http://schemas.microsoft.com/office/powerpoint/2010/main" val="3820897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4E74F-29EC-3E81-E8B3-1855D71C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675D-9D37-51B7-069D-A3569D2B1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769742" cy="1210282"/>
          </a:xfrm>
        </p:spPr>
        <p:txBody>
          <a:bodyPr>
            <a:normAutofit fontScale="90000"/>
          </a:bodyPr>
          <a:lstStyle/>
          <a:p>
            <a:r>
              <a:rPr lang="en-US" dirty="0"/>
              <a:t># Q6. Join the necessary tables to find the total quantity of each pizza category ordered.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14CAB-5DDB-692B-0EDE-1D0F114C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28800"/>
            <a:ext cx="9905998" cy="4869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  </a:t>
            </a:r>
          </a:p>
          <a:p>
            <a:pPr marL="0" indent="0">
              <a:buNone/>
            </a:pPr>
            <a:r>
              <a:rPr lang="en-US" dirty="0"/>
              <a:t>  c.category, SUM(a.quantity)</a:t>
            </a:r>
          </a:p>
          <a:p>
            <a:pPr marL="0" indent="0">
              <a:buNone/>
            </a:pPr>
            <a:r>
              <a:rPr lang="en-US" dirty="0"/>
              <a:t>FROM    order_details AS a        </a:t>
            </a:r>
          </a:p>
          <a:p>
            <a:pPr marL="0" indent="0">
              <a:buNone/>
            </a:pPr>
            <a:r>
              <a:rPr lang="en-US" dirty="0"/>
              <a:t>  JOIN    </a:t>
            </a:r>
          </a:p>
          <a:p>
            <a:pPr marL="0" indent="0">
              <a:buNone/>
            </a:pPr>
            <a:r>
              <a:rPr lang="en-US" dirty="0"/>
              <a:t>     pizzas AS b ON a.pizza_id = b.pizza_id      </a:t>
            </a:r>
          </a:p>
          <a:p>
            <a:pPr marL="0" indent="0">
              <a:buNone/>
            </a:pPr>
            <a:r>
              <a:rPr lang="en-US" dirty="0"/>
              <a:t>  JOIN   </a:t>
            </a:r>
          </a:p>
          <a:p>
            <a:pPr marL="0" indent="0">
              <a:buNone/>
            </a:pPr>
            <a:r>
              <a:rPr lang="en-US" dirty="0"/>
              <a:t>      pizza_types AS c ON b.pizza_type_id = c.pizza_type_id</a:t>
            </a:r>
          </a:p>
          <a:p>
            <a:pPr marL="0" indent="0">
              <a:buNone/>
            </a:pPr>
            <a:r>
              <a:rPr lang="en-US" dirty="0"/>
              <a:t>GROUP BY c.category;</a:t>
            </a:r>
          </a:p>
        </p:txBody>
      </p:sp>
    </p:spTree>
    <p:extLst>
      <p:ext uri="{BB962C8B-B14F-4D97-AF65-F5344CB8AC3E}">
        <p14:creationId xmlns:p14="http://schemas.microsoft.com/office/powerpoint/2010/main" val="4218088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F20B2-96D7-C6BD-66A4-CFADBC05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38D6F-8119-E49A-D687-82387F82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769742" cy="1210282"/>
          </a:xfrm>
        </p:spPr>
        <p:txBody>
          <a:bodyPr>
            <a:normAutofit/>
          </a:bodyPr>
          <a:lstStyle/>
          <a:p>
            <a:r>
              <a:rPr lang="en-US" dirty="0"/>
              <a:t># Q7 Determine the distribution of orders by hour of the day.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83C28-BA26-AFCC-0B04-040ABC244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28800"/>
            <a:ext cx="9905998" cy="4869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    </a:t>
            </a:r>
          </a:p>
          <a:p>
            <a:pPr marL="0" indent="0">
              <a:buNone/>
            </a:pPr>
            <a:r>
              <a:rPr lang="en-US" dirty="0"/>
              <a:t>HOUR(order_time), COUNT(order_id)</a:t>
            </a:r>
          </a:p>
          <a:p>
            <a:pPr marL="0" indent="0">
              <a:buNone/>
            </a:pPr>
            <a:r>
              <a:rPr lang="en-US" dirty="0"/>
              <a:t>FROM    orders</a:t>
            </a:r>
          </a:p>
          <a:p>
            <a:pPr marL="0" indent="0">
              <a:buNone/>
            </a:pPr>
            <a:r>
              <a:rPr lang="en-US" dirty="0"/>
              <a:t>GROUP BY HOUR(order_time);</a:t>
            </a:r>
          </a:p>
        </p:txBody>
      </p:sp>
    </p:spTree>
    <p:extLst>
      <p:ext uri="{BB962C8B-B14F-4D97-AF65-F5344CB8AC3E}">
        <p14:creationId xmlns:p14="http://schemas.microsoft.com/office/powerpoint/2010/main" val="229048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E0755-4B3E-B813-C440-8CB22C131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3025-7D05-42D4-EA17-505131A58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769742" cy="1210282"/>
          </a:xfrm>
        </p:spPr>
        <p:txBody>
          <a:bodyPr>
            <a:normAutofit/>
          </a:bodyPr>
          <a:lstStyle/>
          <a:p>
            <a:r>
              <a:rPr lang="en-US" dirty="0"/>
              <a:t># Q8 Join relevant tables to find the category-wise distribution of pizzas.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40617-90E1-C279-B4DE-8E6D0C8CF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28800"/>
            <a:ext cx="9905998" cy="4869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  </a:t>
            </a:r>
          </a:p>
          <a:p>
            <a:pPr marL="0" indent="0">
              <a:buNone/>
            </a:pPr>
            <a:r>
              <a:rPr lang="en-US" dirty="0"/>
              <a:t>  category, COUNT(pizza_type_id)</a:t>
            </a:r>
          </a:p>
          <a:p>
            <a:pPr marL="0" indent="0">
              <a:buNone/>
            </a:pPr>
            <a:r>
              <a:rPr lang="en-US" dirty="0"/>
              <a:t>FROM   </a:t>
            </a:r>
          </a:p>
          <a:p>
            <a:pPr marL="0" indent="0">
              <a:buNone/>
            </a:pPr>
            <a:r>
              <a:rPr lang="en-US" dirty="0"/>
              <a:t>       pizza_types</a:t>
            </a:r>
          </a:p>
          <a:p>
            <a:pPr marL="0" indent="0">
              <a:buNone/>
            </a:pPr>
            <a:r>
              <a:rPr lang="en-US" dirty="0"/>
              <a:t>GROUP BY category;</a:t>
            </a:r>
          </a:p>
        </p:txBody>
      </p:sp>
    </p:spTree>
    <p:extLst>
      <p:ext uri="{BB962C8B-B14F-4D97-AF65-F5344CB8AC3E}">
        <p14:creationId xmlns:p14="http://schemas.microsoft.com/office/powerpoint/2010/main" val="3119060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703DF-8574-19EC-8EE0-36AED6A7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7C2B7-F641-BEE0-E066-DEB36C22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769742" cy="1210282"/>
          </a:xfrm>
        </p:spPr>
        <p:txBody>
          <a:bodyPr>
            <a:normAutofit fontScale="90000"/>
          </a:bodyPr>
          <a:lstStyle/>
          <a:p>
            <a:r>
              <a:rPr lang="en-US" dirty="0"/>
              <a:t># Q9 Group the orders by date and calculate the average number of pizzas ordered per day.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4D5E2-03D3-9C7E-D783-200815CCA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28800"/>
            <a:ext cx="9905998" cy="4869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    AVG(total_quantity_per_day)</a:t>
            </a:r>
          </a:p>
          <a:p>
            <a:pPr marL="0" indent="0">
              <a:buNone/>
            </a:pPr>
            <a:r>
              <a:rPr lang="en-US" dirty="0"/>
              <a:t>FROM    (SELECT         a.order_date, SUM(b.quantity) AS total_quantity_per_day   </a:t>
            </a:r>
          </a:p>
          <a:p>
            <a:pPr marL="0" indent="0">
              <a:buNone/>
            </a:pPr>
            <a:r>
              <a:rPr lang="en-US" dirty="0"/>
              <a:t> FROM       </a:t>
            </a:r>
          </a:p>
          <a:p>
            <a:pPr marL="0" indent="0">
              <a:buNone/>
            </a:pPr>
            <a:r>
              <a:rPr lang="en-US" dirty="0"/>
              <a:t>      orders AS a   </a:t>
            </a:r>
          </a:p>
          <a:p>
            <a:pPr marL="0" indent="0">
              <a:buNone/>
            </a:pPr>
            <a:r>
              <a:rPr lang="en-US" dirty="0"/>
              <a:t>        JOIN order_details AS b ON a.order_id = b.order_id </a:t>
            </a:r>
          </a:p>
          <a:p>
            <a:pPr marL="0" indent="0">
              <a:buNone/>
            </a:pPr>
            <a:r>
              <a:rPr lang="en-US" dirty="0"/>
              <a:t>   GROUP BY order_date) AS order_quantity;</a:t>
            </a:r>
          </a:p>
        </p:txBody>
      </p:sp>
    </p:spTree>
    <p:extLst>
      <p:ext uri="{BB962C8B-B14F-4D97-AF65-F5344CB8AC3E}">
        <p14:creationId xmlns:p14="http://schemas.microsoft.com/office/powerpoint/2010/main" val="1849568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5C264-22A0-AA74-5C9B-784C32046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CAE9-BDAE-7980-4A1F-7EF785CC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769742" cy="1210282"/>
          </a:xfrm>
        </p:spPr>
        <p:txBody>
          <a:bodyPr>
            <a:normAutofit/>
          </a:bodyPr>
          <a:lstStyle/>
          <a:p>
            <a:r>
              <a:rPr lang="en-US" dirty="0"/>
              <a:t>#Q10 Determine the top 3 most ordered pizza types based on revenue.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4E853-6F3E-3090-1249-BB18825D7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28800"/>
            <a:ext cx="9905998" cy="4869951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400" dirty="0"/>
              <a:t>SELECT   </a:t>
            </a:r>
          </a:p>
          <a:p>
            <a:pPr marL="457200" lvl="1" indent="0">
              <a:buNone/>
            </a:pPr>
            <a:r>
              <a:rPr lang="en-US" sz="2400" dirty="0"/>
              <a:t>  a.name, SUM(quantity * price) AS total_revenue</a:t>
            </a:r>
          </a:p>
          <a:p>
            <a:pPr marL="457200" lvl="1" indent="0">
              <a:buNone/>
            </a:pPr>
            <a:r>
              <a:rPr lang="en-US" sz="2400" dirty="0"/>
              <a:t>FROM    </a:t>
            </a:r>
          </a:p>
          <a:p>
            <a:pPr marL="457200" lvl="1" indent="0">
              <a:buNone/>
            </a:pPr>
            <a:r>
              <a:rPr lang="en-US" sz="2400" dirty="0"/>
              <a:t>     pizza_types AS a        </a:t>
            </a:r>
          </a:p>
          <a:p>
            <a:pPr marL="457200" lvl="1" indent="0">
              <a:buNone/>
            </a:pPr>
            <a:r>
              <a:rPr lang="en-US" sz="2400" dirty="0"/>
              <a:t>   JOIN  </a:t>
            </a:r>
          </a:p>
          <a:p>
            <a:pPr marL="457200" lvl="1" indent="0">
              <a:buNone/>
            </a:pPr>
            <a:r>
              <a:rPr lang="en-US" sz="2400" dirty="0"/>
              <a:t>        pizzas AS b ON a.pizza_type_id = b.pizza_type_id      </a:t>
            </a:r>
          </a:p>
          <a:p>
            <a:pPr marL="457200" lvl="1" indent="0">
              <a:buNone/>
            </a:pPr>
            <a:r>
              <a:rPr lang="en-US" sz="2400" dirty="0"/>
              <a:t>   JOIN    order_details AS c ON b.pizza_id = c.pizza_id</a:t>
            </a:r>
          </a:p>
          <a:p>
            <a:pPr marL="457200" lvl="1" indent="0">
              <a:buNone/>
            </a:pPr>
            <a:r>
              <a:rPr lang="en-US" sz="2400" dirty="0"/>
              <a:t>GROUP BY a.name</a:t>
            </a:r>
          </a:p>
          <a:p>
            <a:pPr marL="457200" lvl="1" indent="0">
              <a:buNone/>
            </a:pPr>
            <a:r>
              <a:rPr lang="en-US" sz="2400" dirty="0"/>
              <a:t>ORDER BY total_revenue DESC LIMIT 3;</a:t>
            </a:r>
          </a:p>
        </p:txBody>
      </p:sp>
    </p:spTree>
    <p:extLst>
      <p:ext uri="{BB962C8B-B14F-4D97-AF65-F5344CB8AC3E}">
        <p14:creationId xmlns:p14="http://schemas.microsoft.com/office/powerpoint/2010/main" val="2615911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96146-E443-778F-6B46-C5AD3415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5254C-B493-BEAC-2092-14A2736A4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769742" cy="1210282"/>
          </a:xfrm>
        </p:spPr>
        <p:txBody>
          <a:bodyPr>
            <a:normAutofit fontScale="90000"/>
          </a:bodyPr>
          <a:lstStyle/>
          <a:p>
            <a:r>
              <a:rPr lang="en-US" dirty="0"/>
              <a:t># Q11 Calculate the percentage contribution of each pizza type to total revenue.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3C5AA-1DFF-48E8-9FF1-D81F71728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28800"/>
            <a:ext cx="9905998" cy="4869951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US" sz="2400" dirty="0"/>
              <a:t>SELECT   </a:t>
            </a:r>
          </a:p>
          <a:p>
            <a:pPr marL="457200" lvl="1" indent="0">
              <a:buNone/>
            </a:pPr>
            <a:r>
              <a:rPr lang="en-US" sz="2400" dirty="0"/>
              <a:t>    a.category,    (SUM(quantity * price) / (SELECT  SUM(quantity * price)        FROM    </a:t>
            </a:r>
          </a:p>
          <a:p>
            <a:pPr marL="457200" lvl="1" indent="0">
              <a:buNone/>
            </a:pPr>
            <a:r>
              <a:rPr lang="en-US" sz="2400" dirty="0"/>
              <a:t>        order_details AS a                </a:t>
            </a:r>
          </a:p>
          <a:p>
            <a:pPr marL="457200" lvl="1" indent="0">
              <a:buNone/>
            </a:pPr>
            <a:r>
              <a:rPr lang="en-US" sz="2400" dirty="0"/>
              <a:t>JOIN            </a:t>
            </a:r>
          </a:p>
          <a:p>
            <a:pPr marL="457200" lvl="1" indent="0">
              <a:buNone/>
            </a:pPr>
            <a:r>
              <a:rPr lang="en-US" sz="2400" dirty="0"/>
              <a:t>    pizzas AS b ON a.pizza_id = b.pizza_id)) * 100 AS revenue </a:t>
            </a:r>
          </a:p>
          <a:p>
            <a:pPr marL="457200" lvl="1" indent="0">
              <a:buNone/>
            </a:pPr>
            <a:r>
              <a:rPr lang="en-US" sz="2400" dirty="0"/>
              <a:t>FROM    pizza_types AS a       </a:t>
            </a:r>
          </a:p>
          <a:p>
            <a:pPr marL="457200" lvl="1" indent="0">
              <a:buNone/>
            </a:pPr>
            <a:r>
              <a:rPr lang="en-US" sz="2400" dirty="0"/>
              <a:t> JOIN    pizzas AS b ON a.pizza_type_id = b.pizza_type_id        JOIN    order_details AS c ON b.pizza_id = c.pizza_id</a:t>
            </a:r>
          </a:p>
          <a:p>
            <a:pPr marL="457200" lvl="1" indent="0">
              <a:buNone/>
            </a:pPr>
            <a:r>
              <a:rPr lang="en-US" sz="2400" dirty="0"/>
              <a:t>GROUP BY a.category</a:t>
            </a:r>
          </a:p>
          <a:p>
            <a:pPr marL="457200" lvl="1" indent="0">
              <a:buNone/>
            </a:pPr>
            <a:r>
              <a:rPr lang="en-US" sz="2400" dirty="0"/>
              <a:t>ORDER BY revenue DESC;</a:t>
            </a:r>
          </a:p>
        </p:txBody>
      </p:sp>
    </p:spTree>
    <p:extLst>
      <p:ext uri="{BB962C8B-B14F-4D97-AF65-F5344CB8AC3E}">
        <p14:creationId xmlns:p14="http://schemas.microsoft.com/office/powerpoint/2010/main" val="864247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10107-AFC6-E8DF-2EC1-09B5F8870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D458-31F9-A839-CE8C-3A97A932F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769742" cy="1210282"/>
          </a:xfrm>
        </p:spPr>
        <p:txBody>
          <a:bodyPr>
            <a:normAutofit/>
          </a:bodyPr>
          <a:lstStyle/>
          <a:p>
            <a:r>
              <a:rPr lang="en-US" dirty="0"/>
              <a:t>#Q12 Analyze the cumulative revenue generated over time.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17455-98F5-672A-08D7-F35AEB6E6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28800"/>
            <a:ext cx="9905998" cy="4869951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sz="2400" dirty="0"/>
              <a:t>SELECT </a:t>
            </a:r>
          </a:p>
          <a:p>
            <a:pPr marL="457200" lvl="1" indent="0">
              <a:buNone/>
            </a:pPr>
            <a:r>
              <a:rPr lang="en-US" sz="2400" dirty="0"/>
              <a:t>   order_date, sum(revenue) over(order by order_date) as </a:t>
            </a:r>
            <a:r>
              <a:rPr lang="en-US" sz="2400" dirty="0" err="1"/>
              <a:t>cum_revenue</a:t>
            </a:r>
            <a:r>
              <a:rPr lang="en-US" sz="2400" dirty="0"/>
              <a:t> FROM </a:t>
            </a:r>
          </a:p>
          <a:p>
            <a:pPr marL="457200" lvl="1" indent="0">
              <a:buNone/>
            </a:pPr>
            <a:r>
              <a:rPr lang="en-US" sz="2400" dirty="0"/>
              <a:t>   (SELECT  order_date, SUM(quantity*price) as revenue</a:t>
            </a:r>
          </a:p>
          <a:p>
            <a:pPr marL="457200" lvl="1" indent="0">
              <a:buNone/>
            </a:pPr>
            <a:r>
              <a:rPr lang="en-US" sz="2400" dirty="0"/>
              <a:t>FROM order_details  as a </a:t>
            </a:r>
          </a:p>
          <a:p>
            <a:pPr marL="457200" lvl="1" indent="0">
              <a:buNone/>
            </a:pPr>
            <a:r>
              <a:rPr lang="en-US" sz="2400" dirty="0"/>
              <a:t>JOIN</a:t>
            </a:r>
          </a:p>
          <a:p>
            <a:pPr marL="457200" lvl="1" indent="0">
              <a:buNone/>
            </a:pPr>
            <a:r>
              <a:rPr lang="en-US" sz="2400" dirty="0"/>
              <a:t>    pizzas as b ON a.pizza_id=b.pizza_id</a:t>
            </a:r>
          </a:p>
          <a:p>
            <a:pPr marL="457200" lvl="1" indent="0">
              <a:buNone/>
            </a:pPr>
            <a:r>
              <a:rPr lang="en-US" sz="2400" dirty="0"/>
              <a:t>JOIN </a:t>
            </a:r>
          </a:p>
          <a:p>
            <a:pPr marL="457200" lvl="1" indent="0">
              <a:buNone/>
            </a:pPr>
            <a:r>
              <a:rPr lang="en-US" sz="2400" dirty="0"/>
              <a:t>    orders as c ON c.order_id=a.order_id</a:t>
            </a:r>
          </a:p>
          <a:p>
            <a:pPr marL="457200" lvl="1" indent="0">
              <a:buNone/>
            </a:pPr>
            <a:r>
              <a:rPr lang="en-US" sz="2400" dirty="0"/>
              <a:t>GROUP BY order_date) as revenue_data;</a:t>
            </a:r>
          </a:p>
        </p:txBody>
      </p:sp>
    </p:spTree>
    <p:extLst>
      <p:ext uri="{BB962C8B-B14F-4D97-AF65-F5344CB8AC3E}">
        <p14:creationId xmlns:p14="http://schemas.microsoft.com/office/powerpoint/2010/main" val="3826094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8619-E43D-AF2B-12D3-505CA91FC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A79F5-B0DC-E9EE-2AA8-1EED3B1B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769742" cy="1210282"/>
          </a:xfrm>
        </p:spPr>
        <p:txBody>
          <a:bodyPr>
            <a:normAutofit fontScale="90000"/>
          </a:bodyPr>
          <a:lstStyle/>
          <a:p>
            <a:r>
              <a:rPr lang="en-US" dirty="0"/>
              <a:t># Q13 Determine the top 3 most ordered pizza types based on revenue for each pizza category.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20955-AFD0-1305-FC0D-D5E2EB63F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497" y="1633591"/>
            <a:ext cx="10091914" cy="5075433"/>
          </a:xfrm>
        </p:spPr>
        <p:txBody>
          <a:bodyPr>
            <a:normAutofit fontScale="85000" lnSpcReduction="20000"/>
          </a:bodyPr>
          <a:lstStyle/>
          <a:p>
            <a:pPr marL="457200" lvl="1" indent="0">
              <a:buNone/>
            </a:pPr>
            <a:r>
              <a:rPr lang="en-US" sz="2400" dirty="0"/>
              <a:t>SELECT </a:t>
            </a:r>
          </a:p>
          <a:p>
            <a:pPr marL="457200" lvl="1" indent="0">
              <a:buNone/>
            </a:pPr>
            <a:r>
              <a:rPr lang="en-US" sz="2400" dirty="0"/>
              <a:t>     category, name, revenue from(select category, name, revenue ,rank() over(partition by category order by revenue desc) as rn </a:t>
            </a:r>
          </a:p>
          <a:p>
            <a:pPr marL="457200" lvl="1" indent="0">
              <a:buNone/>
            </a:pPr>
            <a:r>
              <a:rPr lang="en-US" sz="2400" dirty="0"/>
              <a:t>FROM(SELECT a.category ,a.name, SUM(quantity*price) as revenue</a:t>
            </a:r>
          </a:p>
          <a:p>
            <a:pPr marL="457200" lvl="1" indent="0">
              <a:buNone/>
            </a:pPr>
            <a:r>
              <a:rPr lang="en-US" sz="2400" dirty="0"/>
              <a:t> FROM </a:t>
            </a:r>
          </a:p>
          <a:p>
            <a:pPr marL="457200" lvl="1" indent="0">
              <a:buNone/>
            </a:pPr>
            <a:r>
              <a:rPr lang="en-US" sz="2400" dirty="0"/>
              <a:t>pizza_types as a </a:t>
            </a:r>
          </a:p>
          <a:p>
            <a:pPr marL="457200" lvl="1" indent="0">
              <a:buNone/>
            </a:pPr>
            <a:r>
              <a:rPr lang="en-US" sz="2400" dirty="0"/>
              <a:t> JOIN </a:t>
            </a:r>
          </a:p>
          <a:p>
            <a:pPr marL="457200" lvl="1" indent="0">
              <a:buNone/>
            </a:pPr>
            <a:r>
              <a:rPr lang="en-US" sz="2400" dirty="0"/>
              <a:t>    pizzas as b ON a.pizza_type_id=b.pizza_type_id</a:t>
            </a:r>
          </a:p>
          <a:p>
            <a:pPr marL="457200" lvl="1" indent="0">
              <a:buNone/>
            </a:pPr>
            <a:r>
              <a:rPr lang="en-US" sz="2400" dirty="0"/>
              <a:t>JOIN</a:t>
            </a:r>
          </a:p>
          <a:p>
            <a:pPr marL="457200" lvl="1" indent="0">
              <a:buNone/>
            </a:pPr>
            <a:r>
              <a:rPr lang="en-US" sz="2400" dirty="0"/>
              <a:t>    order_details as con b.pizza_id=c.pizza_id</a:t>
            </a:r>
          </a:p>
          <a:p>
            <a:pPr marL="457200" lvl="1" indent="0">
              <a:buNone/>
            </a:pPr>
            <a:r>
              <a:rPr lang="en-US" sz="2400" dirty="0"/>
              <a:t>GROUP BY a.category, a.name </a:t>
            </a:r>
          </a:p>
          <a:p>
            <a:pPr marL="457200" lvl="1" indent="0">
              <a:buNone/>
            </a:pPr>
            <a:r>
              <a:rPr lang="en-US" sz="2400" dirty="0"/>
              <a:t>ORDER BY revenue desc) as a) as b </a:t>
            </a:r>
          </a:p>
          <a:p>
            <a:pPr marL="457200" lvl="1" indent="0">
              <a:buNone/>
            </a:pPr>
            <a:r>
              <a:rPr lang="en-US" sz="2400" dirty="0"/>
              <a:t>WHERE  rn&lt;=3;</a:t>
            </a:r>
          </a:p>
        </p:txBody>
      </p:sp>
    </p:spTree>
    <p:extLst>
      <p:ext uri="{BB962C8B-B14F-4D97-AF65-F5344CB8AC3E}">
        <p14:creationId xmlns:p14="http://schemas.microsoft.com/office/powerpoint/2010/main" val="1853374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4BEF1-8CD5-20E9-9032-1763872A2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9985499" cy="55273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Outcomes &amp; Insights Gained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8FE28-7F2C-0052-F8A3-D41585424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562" y="1078786"/>
            <a:ext cx="10276850" cy="57792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By completing this project, the following insights were obtained:</a:t>
            </a:r>
          </a:p>
          <a:p>
            <a:r>
              <a:rPr lang="en-US" dirty="0"/>
              <a:t>Identification of </a:t>
            </a:r>
            <a:r>
              <a:rPr lang="en-US" b="1" dirty="0"/>
              <a:t>top-selling pizzas</a:t>
            </a:r>
            <a:r>
              <a:rPr lang="en-US" dirty="0"/>
              <a:t> based on quantity and revenue</a:t>
            </a:r>
          </a:p>
          <a:p>
            <a:r>
              <a:rPr lang="en-US" dirty="0"/>
              <a:t>Clear understanding of </a:t>
            </a:r>
            <a:r>
              <a:rPr lang="en-US" b="1" dirty="0"/>
              <a:t>which pizza categories contribute most to sales</a:t>
            </a:r>
            <a:endParaRPr lang="en-US" dirty="0"/>
          </a:p>
          <a:p>
            <a:r>
              <a:rPr lang="en-US" dirty="0"/>
              <a:t>Insights into </a:t>
            </a:r>
            <a:r>
              <a:rPr lang="en-US" b="1" dirty="0"/>
              <a:t>peak ordering hours and daily order trends</a:t>
            </a:r>
            <a:endParaRPr lang="en-US" dirty="0"/>
          </a:p>
          <a:p>
            <a:r>
              <a:rPr lang="en-US" dirty="0"/>
              <a:t>Revenue contribution percentage of each pizza type</a:t>
            </a:r>
          </a:p>
          <a:p>
            <a:r>
              <a:rPr lang="en-US" dirty="0"/>
              <a:t>Cumulative revenue trends to assess </a:t>
            </a:r>
            <a:r>
              <a:rPr lang="en-US" b="1" dirty="0"/>
              <a:t>business growth over time</a:t>
            </a:r>
            <a:endParaRPr lang="en-US" dirty="0"/>
          </a:p>
          <a:p>
            <a:r>
              <a:rPr lang="en-US" dirty="0"/>
              <a:t>Category-wise top-performing pizzas to support </a:t>
            </a:r>
            <a:r>
              <a:rPr lang="en-US" b="1" dirty="0"/>
              <a:t>menu optimization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4850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113</TotalTime>
  <Words>1287</Words>
  <Application>Microsoft Office PowerPoint</Application>
  <PresentationFormat>Widescreen</PresentationFormat>
  <Paragraphs>139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Tw Cen MT</vt:lpstr>
      <vt:lpstr>Circuit</vt:lpstr>
      <vt:lpstr>Pizza Sales Project</vt:lpstr>
      <vt:lpstr>Problem Statement</vt:lpstr>
      <vt:lpstr>Significance of the Analysis</vt:lpstr>
      <vt:lpstr># Q1. Retrieve the total number of orders placed</vt:lpstr>
      <vt:lpstr># Q1. Retrieve the total number of orders placed</vt:lpstr>
      <vt:lpstr># Q2 Calculate the total revenue generated from pizza sales.</vt:lpstr>
      <vt:lpstr># Q3.Identify the highest-priced pizza.</vt:lpstr>
      <vt:lpstr># Q4. Identify the most common pizza size ordered.</vt:lpstr>
      <vt:lpstr># Q5. List the top 5 most ordered pizza types along with their quantities.</vt:lpstr>
      <vt:lpstr># Q6. Join the necessary tables to find the total quantity of each pizza category ordered.</vt:lpstr>
      <vt:lpstr># Q7 Determine the distribution of orders by hour of the day. </vt:lpstr>
      <vt:lpstr># Q8 Join relevant tables to find the category-wise distribution of pizzas.</vt:lpstr>
      <vt:lpstr># Q9 Group the orders by date and calculate the average number of pizzas ordered per day.</vt:lpstr>
      <vt:lpstr>#Q10 Determine the top 3 most ordered pizza types based on revenue.</vt:lpstr>
      <vt:lpstr># Q11 Calculate the percentage contribution of each pizza type to total revenue.</vt:lpstr>
      <vt:lpstr>#Q12 Analyze the cumulative revenue generated over time.</vt:lpstr>
      <vt:lpstr># Q13 Determine the top 3 most ordered pizza types based on revenue for each pizza category.</vt:lpstr>
      <vt:lpstr>Outcomes &amp; Insights Gained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Thombare</dc:creator>
  <cp:lastModifiedBy>Neha Thombare</cp:lastModifiedBy>
  <cp:revision>2</cp:revision>
  <dcterms:created xsi:type="dcterms:W3CDTF">2025-12-26T07:34:57Z</dcterms:created>
  <dcterms:modified xsi:type="dcterms:W3CDTF">2025-12-26T14:24:31Z</dcterms:modified>
</cp:coreProperties>
</file>